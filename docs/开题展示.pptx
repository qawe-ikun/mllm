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416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286000"/>
            <a:ext cx="1033272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微软雅黑"/>
              </a:defRPr>
            </a:pPr>
            <a:r>
              <a:t>多模态大模型原理与应用 · 期中开题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基于视觉-语言-动作(VLA)的</a:t>
            </a:r>
            <a:br/>
            <a:r>
              <a:t>具身智能导航Agent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78D4"/>
                </a:solidFill>
                <a:latin typeface="微软雅黑"/>
              </a:defRPr>
            </a:pPr>
            <a:r>
              <a:t>在AI2-THOR仿真环境中实现多模态目标导航与交互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03520"/>
            <a:ext cx="1033272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Qwen3-VL 8B  ·  CLIP  ·  MobileSAM  ·  PPO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背景与动机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微软雅黑"/>
              </a:defRPr>
            </a:pPr>
            <a:r>
              <a:t>传统视觉-语言模型的局限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❌ 停留在“看和说”层面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❌ 无法在物理环境中执行动作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❌ 缺乏长程决策规划能力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❌ 与环境的交互能力缺失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具身智能(AI)的突破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✅ 视觉+语言+动作的统一框架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✅ 在仿真/真实环境中主动交互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✅ 从感知到决策的闭环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✅ 家庭服务/仓储物流等实际应用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核心技术挑战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1. 多模态特征对齐：视觉(图像)、语言(指令)、状态(位置)三种异构特征如何融合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2. 长程决策规划：导航需要数十步连续决策，存在信用分配(credit assignment)难题</a:t>
            </a:r>
          </a:p>
          <a:p>
            <a:pPr>
              <a:spcAft>
                <a:spcPts val="1000"/>
              </a:spcAft>
              <a:defRPr sz="1600">
                <a:solidFill>
                  <a:srgbClr val="CCCCCC"/>
                </a:solidFill>
                <a:latin typeface="微软雅黑"/>
              </a:defRPr>
            </a:pPr>
            <a:r>
              <a:t>3. 泛化能力：训练在有限场景，测试需泛化到未见过的房间布局和物体摆放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任务定义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338328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  <a:latin typeface="微软雅黑"/>
              </a:defRPr>
            </a:pPr>
            <a:r>
              <a:t>📥 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自然语言指令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"Go to the microwave"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第一人称RGB图像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300×300像素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Agent自身状态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[x,y,z,rotation]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188720"/>
            <a:ext cx="338328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87B00"/>
                </a:solidFill>
                <a:latin typeface="微软雅黑"/>
              </a:defRPr>
            </a:pPr>
            <a:r>
              <a:t>📤 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离散动作序列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MoveAhead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RotateLeft / RotateRight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LookUp / LookDown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Pickup (拾取)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88720"/>
            <a:ext cx="338328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微软雅黑"/>
              </a:defRPr>
            </a:pPr>
            <a:r>
              <a:t>🎯 任务类型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828800"/>
            <a:ext cx="3017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ObjectNav 目标导航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导航至目标物体可视范围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距离≤1.5m且无障碍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Pickup 拾取交互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到达目标后执行拾取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✅ 成功判定标准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97280" y="4937760"/>
          <a:ext cx="10058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任务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成功条件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判定方式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ObjectNav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目标物体在视野内且距离≤1.5m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可视性检测 + 距离计算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Pickup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目标物体被成功拿起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环境状态检测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相关工作调研 (8篇代表性工作)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论文/项目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核心贡献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与本项目关系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仿真环境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AI2-THOR (2017)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4类室内场景,122个交互环境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平台选型,支持导航+交互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仿真环境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Habitat-Sim (2019)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高性能渲染,C++底层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对比方案,交互能力弱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VLA模型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RT-2 (Google, 2023)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VLM直接输出动作token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架构设计核心灵感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VLA模型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RoboCat (2023)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大规模预训练+微调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SFT+PPO两阶段策略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导航方法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DD-PPO (2019)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分布式PPO导航策略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纯RL方法可行性证明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导航方法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CLIPort (2021)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CLIP+空间注意力操作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CLIP特征融合方式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基础模型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 (2021) / SAM (2023)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图文预训练/通用分割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视觉编码组件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基础模型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Qwen3-VL 8B (2025)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开源多模态大模型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VLA决策基座模型</a:t>
                      </a:r>
                    </a:p>
                  </a:txBody>
                  <a:tcPr anchor="ctr">
                    <a:solidFill>
                      <a:srgbClr val="2D2D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系统整体架构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20040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微软雅黑"/>
              </a:defRPr>
            </a:pPr>
            <a:r>
              <a:t>输入层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语言指令 + RGB图像 + Agent状态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097280"/>
            <a:ext cx="365760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976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7B00"/>
                </a:solidFill>
                <a:latin typeface="微软雅黑"/>
              </a:defRPr>
            </a:pPr>
            <a:r>
              <a:t>感知层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CLIP + MobileSAM + Position 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097280"/>
            <a:ext cx="3474720" cy="10972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微软雅黑"/>
              </a:defRPr>
            </a:pPr>
            <a:r>
              <a:t>特征融合层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投影对齐 → [seq, 4096]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669280" y="2286000"/>
            <a:ext cx="731520" cy="54864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2926080"/>
            <a:ext cx="8503920" cy="18288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1168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VLA决策层: Qwen3-VL 8B (QLoRA 4bit)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5661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Multi-Modal Projector: visual tokens → LLM embedding空间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32层Transformer (LoRA adapter, rank=16, alpha=32)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Action Head: 6个特殊动作token加入词表(idx 32000-32005)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669280" y="4846320"/>
            <a:ext cx="731520" cy="548640"/>
          </a:xfrm>
          <a:prstGeom prst="down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5486400"/>
            <a:ext cx="3657600" cy="914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5577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微软雅黑"/>
              </a:defRPr>
            </a:pPr>
            <a:r>
              <a:t>输出: 离散动作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MoveAhead | Rotate | Pickup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486400"/>
            <a:ext cx="3931920" cy="9144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5577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87B00"/>
                </a:solidFill>
                <a:latin typeface="微软雅黑"/>
              </a:defRPr>
            </a:pPr>
            <a:r>
              <a:t>AI2-THOR环境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943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执行动作 → 返回新状态+reward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关键技术: 多模态感知模块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CLIP ViT-B/32 - 全局场景理解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输入: 300×300 RGB图像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输出: 512维全局特征向量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作用: 捕获场景整体语义(房间类型、物体分布)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参数量: ~150M, 推理速度快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微软雅黑"/>
              </a:defRPr>
            </a:pPr>
            <a:r>
              <a:t>MobileSAM - 目标检测与定位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rPr dirty="0" err="1"/>
              <a:t>输入</a:t>
            </a:r>
            <a:r>
              <a:rPr dirty="0"/>
              <a:t>: </a:t>
            </a:r>
            <a:r>
              <a:rPr dirty="0" err="1"/>
              <a:t>图像</a:t>
            </a:r>
            <a:r>
              <a:rPr dirty="0"/>
              <a:t> + </a:t>
            </a:r>
            <a:r>
              <a:rPr dirty="0" err="1"/>
              <a:t>目标类别提示</a:t>
            </a:r>
            <a:r>
              <a:rPr dirty="0"/>
              <a:t>(</a:t>
            </a:r>
            <a:r>
              <a:rPr dirty="0" err="1"/>
              <a:t>如'microwave</a:t>
            </a:r>
            <a:r>
              <a:rPr dirty="0"/>
              <a:t>')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rPr dirty="0" err="1"/>
              <a:t>输出</a:t>
            </a:r>
            <a:r>
              <a:rPr dirty="0"/>
              <a:t>: mask + bounding box + </a:t>
            </a:r>
            <a:r>
              <a:rPr dirty="0" err="1"/>
              <a:t>中心点坐标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rPr dirty="0" err="1"/>
              <a:t>作用</a:t>
            </a:r>
            <a:r>
              <a:rPr dirty="0"/>
              <a:t>: </a:t>
            </a:r>
            <a:r>
              <a:rPr dirty="0" err="1"/>
              <a:t>提供'目标在哪'的空间定位信息</a:t>
            </a:r>
            <a:endParaRPr dirty="0"/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rPr dirty="0"/>
              <a:t>轻量版</a:t>
            </a:r>
            <a:r>
              <a:t>~40M</a:t>
            </a:r>
            <a:r>
              <a:rPr lang="en-US" altLang="zh-CN"/>
              <a:t>B</a:t>
            </a:r>
            <a:r>
              <a:t>, </a:t>
            </a:r>
            <a:r>
              <a:rPr dirty="0" err="1"/>
              <a:t>适合实时推理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微软雅黑"/>
              </a:defRPr>
            </a:pPr>
            <a:r>
              <a:t>Position Encoder - Agent状态编码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[x, y, z, rotation]  →  归一化到[0,1]  →  Sinusoidal PE  →  Linear(256→4096)  →  [1, 4096]状态特征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位置特征与视觉特征在输入LLM前进行拼接融合，形成完整的环境感知表示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类似Transformer中的Positional Encoding，将连续坐标映射到高维空间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模型设计: Qwen3-VL 8B + QLoRA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基座模型参数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920240"/>
          <a:ext cx="438912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基座模型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Qwen3-VL 8B-Instruct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参数量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~8B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视觉Encoder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NaViT(动态分辨率)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上下文窗口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32K+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FP16显存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~16GB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QLoRA 微调配置 (4bit)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766560" y="1920240"/>
          <a:ext cx="4389120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量化方式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NF4 4bit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LoRA rank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LoRA alpha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32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可训练参数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~7M (0.1%)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训练显存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~16-18GB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297680"/>
            <a:ext cx="10698480" cy="21031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微软雅黑"/>
              </a:defRPr>
            </a:pPr>
            <a:r>
              <a:t>动作Token化 (6个离散动作)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&lt;ACT_MoveAhead&gt; (idx=32000)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&lt;ACT_RotateLeft&gt; (idx=32001)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&lt;ACT_RotateRight&gt; (idx=32002)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&lt;ACT_LookUp&gt; (idx=32003)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&lt;ACT_LookDown&gt; (idx=32004)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&lt;ACT_Pickup&gt; (idx=32005)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训练策略: SFT → PPO 两阶段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926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7C10"/>
                </a:solidFill>
                <a:latin typeface="微软雅黑"/>
              </a:defRPr>
            </a:pPr>
            <a:r>
              <a:t>阶段1: 监督微调 (SFT)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数据: 启发式策略(A*寻路)生成专家演示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规模: ~5000条轨迹 × 15步 ≈ 75K样本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损失: 交叉熵(预测动作 vs 专家动作)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训练: 3 epochs, 学习率 2e-4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目标: 让模型学会'基本导航能力'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029200" cy="29260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87B00"/>
                </a:solidFill>
                <a:latin typeface="微软雅黑"/>
              </a:defRPr>
            </a:pPr>
            <a:r>
              <a:t>阶段2: PPO强化学习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算法: PPO-Clip (稳定版)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折扣因子 γ=0.99, GAE λ=0.95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Clip范围 ε=0.2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在SFT基础上优化长期回报</a:t>
            </a:r>
          </a:p>
          <a:p>
            <a:pPr>
              <a:spcAft>
                <a:spcPts val="5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目标: 提升成功率 + 路径效率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奖励函数设计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5029200"/>
          <a:ext cx="103327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到达目标</a:t>
                      </a:r>
                      <a:br/>
                      <a:r>
                        <a:t>+10.0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成功拾取</a:t>
                      </a:r>
                      <a:br/>
                      <a:r>
                        <a:t>+5.0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每走一步</a:t>
                      </a:r>
                      <a:br/>
                      <a:r>
                        <a:t>-0.1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靠近目标</a:t>
                      </a:r>
                      <a:br/>
                      <a:r>
                        <a:t>+0.05/步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远离目标</a:t>
                      </a:r>
                      <a:br/>
                      <a:r>
                        <a:t>-0.05/步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碰撞/越界</a:t>
                      </a:r>
                      <a:br/>
                      <a:r>
                        <a:t>-1.0</a:t>
                      </a:r>
                    </a:p>
                  </a:txBody>
                  <a:tcPr anchor="ctr">
                    <a:solidFill>
                      <a:srgbClr val="CC4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评测指标与消融实验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主要指标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微软雅黑"/>
              </a:defRPr>
            </a:pPr>
            <a:r>
              <a:t>1. 成功率 (Success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微软雅黑"/>
              </a:defRPr>
            </a:pPr>
            <a:r>
              <a:t>SR = N_success / N_total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微软雅黑"/>
              </a:defRPr>
            </a:pPr>
            <a:r>
              <a:t>2. SPL (Success weighted by Path Length)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SPL = (1/N) Σ Sᵢ · lᵢ*/max(lᵢ*, lᵢ)</a:t>
            </a:r>
            <a:br/>
            <a:r>
              <a:t>同时衡量成功率和路径效率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029200" cy="27432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微软雅黑"/>
              </a:defRPr>
            </a:pPr>
            <a:r>
              <a:t>消融实验设计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583680" y="1828800"/>
          <a:ext cx="4663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实验组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视觉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语言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对比目的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Baseline-A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纯视觉导航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Baseline-B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CLIP+SAM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无位置编码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CLIP+SAM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✓+位置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完整模型</a:t>
                      </a:r>
                    </a:p>
                  </a:txBody>
                  <a:tcPr anchor="ctr">
                    <a:solidFill>
                      <a:srgbClr val="107C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31520" y="4206240"/>
            <a:ext cx="10698480" cy="219456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次要指标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4846320"/>
          <a:ext cx="1033272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平均步数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成功episode的平均动作数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路径效率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实际路径/最优路径比值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实验计划: 算力与时间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算力预算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920240"/>
          <a:ext cx="4572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规格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RTX 4090 (24GB)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模型训练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CPU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8核以上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环境仿真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内存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32GB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数据加载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存储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50GB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模型+数据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训练时间估算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0" y="1920240"/>
          <a:ext cx="4572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步数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预估时间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SFT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75K×3 epochs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~8小时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PPO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50K steps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~10小时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评估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300 episodes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~5分钟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时间计划 (第9-18周)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480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微软雅黑"/>
              </a:defRPr>
            </a:pPr>
            <a:r>
              <a:t>第9-10周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480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开题报告 + 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0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微软雅黑"/>
              </a:defRPr>
            </a:pPr>
            <a:r>
              <a:t>第11-12周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800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环境搭建 + 数据生成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7B00"/>
                </a:solidFill>
                <a:latin typeface="微软雅黑"/>
              </a:defRPr>
            </a:pPr>
            <a:r>
              <a:t>第13-14周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模型实现 + SFT训练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微软雅黑"/>
              </a:defRPr>
            </a:pPr>
            <a:r>
              <a:t>第15周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PPO训练 + 调优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760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7C10"/>
                </a:solidFill>
                <a:latin typeface="微软雅黑"/>
              </a:defRPr>
            </a:pPr>
            <a:r>
              <a:t>第16-17周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760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评估 + 可视化 + 消融实验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87B00"/>
                </a:solidFill>
                <a:latin typeface="微软雅黑"/>
              </a:defRPr>
            </a:pPr>
            <a:r>
              <a:t>第18周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080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最终报告 + 期末展示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微软雅黑"/>
              </a:defRPr>
            </a:pPr>
            <a:r>
              <a:t>预期成果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量化目标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920240"/>
          <a:ext cx="4572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Seen场景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Unseen场景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成功率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07C10"/>
                          </a:solidFill>
                          <a:latin typeface="微软雅黑"/>
                        </a:defRPr>
                      </a:pPr>
                      <a:r>
                        <a:t>&gt; 50%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87B00"/>
                          </a:solidFill>
                          <a:latin typeface="微软雅黑"/>
                        </a:defRPr>
                      </a:pPr>
                      <a:r>
                        <a:t>&gt; 30%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SPL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07C10"/>
                          </a:solidFill>
                          <a:latin typeface="微软雅黑"/>
                        </a:defRPr>
                      </a:pPr>
                      <a:r>
                        <a:t>&gt; 0.3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87B00"/>
                          </a:solidFill>
                          <a:latin typeface="微软雅黑"/>
                        </a:defRPr>
                      </a:pPr>
                      <a:r>
                        <a:t>&gt; 0.2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188720"/>
            <a:ext cx="5029200" cy="228600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7C10"/>
                </a:solidFill>
                <a:latin typeface="微软雅黑"/>
              </a:defRPr>
            </a:pPr>
            <a:r>
              <a:t>交付物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✅ 完整代码仓库(GitHub)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✅ 开题报告(5页) + 最终报告(10-15页)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✅ 10+ episode轨迹可视化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✅ 失败案例分类分析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微软雅黑"/>
              </a:defRPr>
            </a:pPr>
            <a:r>
              <a:t>✅ 3-5分钟演示视频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2560320"/>
          </a:xfrm>
          <a:prstGeom prst="round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87B00"/>
                </a:solidFill>
                <a:latin typeface="微软雅黑"/>
              </a:defRPr>
            </a:pPr>
            <a:r>
              <a:t>风险与应对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4572000"/>
          <a:ext cx="103327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应对方案</a:t>
                      </a:r>
                    </a:p>
                  </a:txBody>
                  <a:tcPr anchor="ctr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AI2-THOR在WSL运行不稳定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87B00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使用headless模式; 备用Docker方案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PPO训练不收敛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87B00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增加SFT数据; 调整奖励; 使用GAE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训练时间超出预算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87B00"/>
                          </a:solidFill>
                          <a:latin typeface="微软雅黑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CCCCCC"/>
                          </a:solidFill>
                          <a:latin typeface="微软雅黑"/>
                        </a:defRPr>
                      </a:pPr>
                      <a:r>
                        <a:t>减少场景数; 使用云平台(AutoDL)</a:t>
                      </a:r>
                    </a:p>
                  </a:txBody>
                  <a:tcPr anchor="ctr">
                    <a:solidFill>
                      <a:srgbClr val="2525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0" y="2743200"/>
            <a:ext cx="850392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微软雅黑"/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3840480"/>
            <a:ext cx="850392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78D4"/>
                </a:solidFill>
                <a:latin typeface="微软雅黑"/>
              </a:defRPr>
            </a:pPr>
            <a:r>
              <a:t>感谢聆听！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微软雅黑"/>
              </a:defRPr>
            </a:pPr>
            <a:r>
              <a:t>GitHub: https://github.com/your-org/mllm-agent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980</Words>
  <Application>Microsoft Office PowerPoint</Application>
  <PresentationFormat>宽屏</PresentationFormat>
  <Paragraphs>270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凤军 罗</cp:lastModifiedBy>
  <cp:revision>2</cp:revision>
  <dcterms:created xsi:type="dcterms:W3CDTF">2013-01-27T09:14:16Z</dcterms:created>
  <dcterms:modified xsi:type="dcterms:W3CDTF">2026-05-05T06:09:21Z</dcterms:modified>
  <cp:category/>
</cp:coreProperties>
</file>